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62f672f9-73d3-8613-c599-72fe036e3869}">
          <p14:sldIdLst>
            <p14:sldId id="256"/>
            <p14:sldId id="257"/>
          </p14:sldIdLst>
        </p14:section>
        <p14:section name="LPBF parameters" id="{527824fe-5066-b483-5784-f8b1dfd34f82}">
          <p14:sldIdLst>
            <p14:sldId id="258"/>
          </p14:sldIdLst>
        </p14:section>
        <p14:section name="Model architecture" id="{1132f682-4dac-6774-f94c-161b07ef5dbb}">
          <p14:sldIdLst>
            <p14:sldId id="259"/>
            <p14:sldId id="260"/>
          </p14:sldIdLst>
        </p14:section>
        <p14:section name="Status and next steps" id="{a28c6b48-9027-af6e-a12e-61e9ce0d05ba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extraction scope and the proposed model architecture. No measured data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NTU × Malvern Panalytical  |  AI-enabled XRF for AM powders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&amp; LPBF Parameters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17 materials  ·  21 October 2026</a:t>
            </a:r>
            <a:endParaRPr lang="en-US" sz="1800" dirty="0"/>
          </a:p>
        </p:txBody>
      </p:sp>
      <p:sp>
        <p:nvSpPr>
          <p:cNvPr id="4" name="Laser circle"/>
          <p:cNvSpPr/>
          <p:nvPr/>
        </p:nvSpPr>
        <p:spPr>
          <a:xfrm>
            <a:off x="731520" y="11887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Laser icon" descr="La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two parameter sets pulled from 17 material workbooks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Source: shared NTU folder › Material Data › &lt;material&gt; › Excel workbook (one per material, 17 total)</a:t>
            </a:r>
            <a:endParaRPr lang="en-US" sz="1400" dirty="0"/>
          </a:p>
        </p:txBody>
      </p:sp>
      <p:sp>
        <p:nvSpPr>
          <p:cNvPr id="4" name="Step 1"/>
          <p:cNvSpPr/>
          <p:nvPr/>
        </p:nvSpPr>
        <p:spPr>
          <a:xfrm>
            <a:off x="563728" y="182880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Metal AM powder circle"/>
          <p:cNvSpPr/>
          <p:nvPr/>
        </p:nvSpPr>
        <p:spPr>
          <a:xfrm>
            <a:off x="1203808" y="20116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Metal AM powder icon" descr="Metal AM pow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828" y="21717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5168" y="2743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Metal AM powder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5168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WP1 · M1</a:t>
            </a:r>
            <a:endParaRPr lang="en-US" sz="1200" dirty="0"/>
          </a:p>
        </p:txBody>
      </p:sp>
      <p:sp>
        <p:nvSpPr>
          <p:cNvPr id="9" name="Arrow 1"/>
          <p:cNvSpPr/>
          <p:nvPr/>
        </p:nvSpPr>
        <p:spPr>
          <a:xfrm>
            <a:off x="2557120" y="2606040"/>
            <a:ext cx="219456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0" name="Step 2"/>
          <p:cNvSpPr/>
          <p:nvPr/>
        </p:nvSpPr>
        <p:spPr>
          <a:xfrm>
            <a:off x="2849728" y="182880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/>
        </p:spPr>
      </p:sp>
      <p:sp>
        <p:nvSpPr>
          <p:cNvPr id="11" name="LPBF-printed disc circle"/>
          <p:cNvSpPr/>
          <p:nvPr/>
        </p:nvSpPr>
        <p:spPr>
          <a:xfrm>
            <a:off x="3489808" y="201168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LPBF-printed disc icon" descr="LPBF-printed dis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828" y="21717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41168" y="2743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LPBF-printed disc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941168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WP1 · M2</a:t>
            </a:r>
            <a:endParaRPr lang="en-US" sz="1200" dirty="0"/>
          </a:p>
        </p:txBody>
      </p:sp>
      <p:sp>
        <p:nvSpPr>
          <p:cNvPr id="15" name="Arrow 2"/>
          <p:cNvSpPr/>
          <p:nvPr/>
        </p:nvSpPr>
        <p:spPr>
          <a:xfrm>
            <a:off x="4843120" y="2606040"/>
            <a:ext cx="219456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6" name="Step 3"/>
          <p:cNvSpPr/>
          <p:nvPr/>
        </p:nvSpPr>
        <p:spPr>
          <a:xfrm>
            <a:off x="5135728" y="182880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/>
        </p:spPr>
      </p:sp>
      <p:sp>
        <p:nvSpPr>
          <p:cNvPr id="17" name="Disc characterisation circle"/>
          <p:cNvSpPr/>
          <p:nvPr/>
        </p:nvSpPr>
        <p:spPr>
          <a:xfrm>
            <a:off x="5775808" y="201168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Disc characterisation icon" descr="Disc characteris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828" y="21717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27168" y="2743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Disc characterisation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227168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WP2 · M4 (this update)</a:t>
            </a:r>
            <a:endParaRPr lang="en-US" sz="1200" dirty="0"/>
          </a:p>
        </p:txBody>
      </p:sp>
      <p:sp>
        <p:nvSpPr>
          <p:cNvPr id="21" name="Arrow 3"/>
          <p:cNvSpPr/>
          <p:nvPr/>
        </p:nvSpPr>
        <p:spPr>
          <a:xfrm>
            <a:off x="7129120" y="2606040"/>
            <a:ext cx="219456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2" name="Step 4"/>
          <p:cNvSpPr/>
          <p:nvPr/>
        </p:nvSpPr>
        <p:spPr>
          <a:xfrm>
            <a:off x="7421728" y="182880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3" name="ICP + XRF circle"/>
          <p:cNvSpPr/>
          <p:nvPr/>
        </p:nvSpPr>
        <p:spPr>
          <a:xfrm>
            <a:off x="8061808" y="20116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CP + XRF icon" descr="ICP + XR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828" y="217170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13168" y="2743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ICP + XRF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513168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WP2 · M5 / M6</a:t>
            </a:r>
            <a:endParaRPr lang="en-US" sz="1200" dirty="0"/>
          </a:p>
        </p:txBody>
      </p:sp>
      <p:sp>
        <p:nvSpPr>
          <p:cNvPr id="27" name="Arrow 4"/>
          <p:cNvSpPr/>
          <p:nvPr/>
        </p:nvSpPr>
        <p:spPr>
          <a:xfrm>
            <a:off x="9415120" y="2606040"/>
            <a:ext cx="219456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8" name="Step 5"/>
          <p:cNvSpPr/>
          <p:nvPr/>
        </p:nvSpPr>
        <p:spPr>
          <a:xfrm>
            <a:off x="9707728" y="182880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9" name="ML training set circle"/>
          <p:cNvSpPr/>
          <p:nvPr/>
        </p:nvSpPr>
        <p:spPr>
          <a:xfrm>
            <a:off x="10347808" y="20116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ML training set icon" descr="ML training s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7828" y="217170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99168" y="2743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ML training set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799168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WP3 · M7</a:t>
            </a:r>
            <a:endParaRPr lang="en-US" sz="1200" dirty="0"/>
          </a:p>
        </p:txBody>
      </p:sp>
      <p:sp>
        <p:nvSpPr>
          <p:cNvPr id="33" name="LPBF box"/>
          <p:cNvSpPr/>
          <p:nvPr/>
        </p:nvSpPr>
        <p:spPr>
          <a:xfrm>
            <a:off x="548640" y="411480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77724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LPBF parameters (how each disc was printed)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777240" y="4663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Laser power, scan speed, hatch spacing, layer thickness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Scan strategy, spot size, atmosphere, build-plate temperature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Derived: volumetric energy density (VED)</a:t>
            </a:r>
            <a:endParaRPr lang="en-US" sz="1400" dirty="0"/>
          </a:p>
        </p:txBody>
      </p:sp>
      <p:sp>
        <p:nvSpPr>
          <p:cNvPr id="36" name="M4 box"/>
          <p:cNvSpPr/>
          <p:nvPr/>
        </p:nvSpPr>
        <p:spPr>
          <a:xfrm>
            <a:off x="6245352" y="411480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6473952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M4 results (what the printed disc looks like)</a:t>
            </a:r>
            <a:endParaRPr lang="en-US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6473952" y="4663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EDS: disc surface chemistry vs. nominal / powder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Micro-CT: porosity, relative density, defects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XRD: phases present, any texture or new phases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LPBF fields extracted per material, normalised to common units</a:t>
            </a:r>
            <a:endParaRPr lang="en-US" sz="3000" dirty="0"/>
          </a:p>
        </p:txBody>
      </p:sp>
      <p:sp>
        <p:nvSpPr>
          <p:cNvPr id="3" name="Field Laser power"/>
          <p:cNvSpPr/>
          <p:nvPr/>
        </p:nvSpPr>
        <p:spPr>
          <a:xfrm>
            <a:off x="548640" y="132588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Laser power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</a:t>
            </a:r>
            <a:endParaRPr lang="en-US" sz="1300" dirty="0"/>
          </a:p>
        </p:txBody>
      </p:sp>
      <p:sp>
        <p:nvSpPr>
          <p:cNvPr id="7" name="Field Scan speed"/>
          <p:cNvSpPr/>
          <p:nvPr/>
        </p:nvSpPr>
        <p:spPr>
          <a:xfrm>
            <a:off x="3977640" y="132588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605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Scan speed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mm/s</a:t>
            </a:r>
            <a:endParaRPr lang="en-US" sz="1300" dirty="0"/>
          </a:p>
        </p:txBody>
      </p:sp>
      <p:sp>
        <p:nvSpPr>
          <p:cNvPr id="11" name="Field Hatch spacing"/>
          <p:cNvSpPr/>
          <p:nvPr/>
        </p:nvSpPr>
        <p:spPr>
          <a:xfrm>
            <a:off x="548640" y="251460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Hatch spacing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µm</a:t>
            </a:r>
            <a:endParaRPr lang="en-US" sz="1300" dirty="0"/>
          </a:p>
        </p:txBody>
      </p:sp>
      <p:sp>
        <p:nvSpPr>
          <p:cNvPr id="15" name="Field Layer thickness"/>
          <p:cNvSpPr/>
          <p:nvPr/>
        </p:nvSpPr>
        <p:spPr>
          <a:xfrm>
            <a:off x="3977640" y="251460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6052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Layer thickness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µm</a:t>
            </a:r>
            <a:endParaRPr lang="en-US" sz="1300" dirty="0"/>
          </a:p>
        </p:txBody>
      </p:sp>
      <p:sp>
        <p:nvSpPr>
          <p:cNvPr id="19" name="Field Scan strategy"/>
          <p:cNvSpPr/>
          <p:nvPr/>
        </p:nvSpPr>
        <p:spPr>
          <a:xfrm>
            <a:off x="548640" y="370332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Scan strategy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e.g. stripe, 67° rotation</a:t>
            </a:r>
            <a:endParaRPr lang="en-US" sz="1300" dirty="0"/>
          </a:p>
        </p:txBody>
      </p:sp>
      <p:sp>
        <p:nvSpPr>
          <p:cNvPr id="23" name="Field Spot size"/>
          <p:cNvSpPr/>
          <p:nvPr/>
        </p:nvSpPr>
        <p:spPr>
          <a:xfrm>
            <a:off x="3977640" y="370332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16052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Spot size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µm</a:t>
            </a:r>
            <a:endParaRPr lang="en-US" sz="1300" dirty="0"/>
          </a:p>
        </p:txBody>
      </p:sp>
      <p:sp>
        <p:nvSpPr>
          <p:cNvPr id="27" name="Field Atmosphere / O₂"/>
          <p:cNvSpPr/>
          <p:nvPr/>
        </p:nvSpPr>
        <p:spPr>
          <a:xfrm>
            <a:off x="548640" y="489204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5074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1463040" y="5074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Atmosphere / O₂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463040" y="5440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Ar / N₂, ppm</a:t>
            </a:r>
            <a:endParaRPr lang="en-US" sz="1300" dirty="0"/>
          </a:p>
        </p:txBody>
      </p:sp>
      <p:sp>
        <p:nvSpPr>
          <p:cNvPr id="31" name="Field Plate preheat"/>
          <p:cNvSpPr/>
          <p:nvPr/>
        </p:nvSpPr>
        <p:spPr>
          <a:xfrm>
            <a:off x="3977640" y="489204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160520" y="5074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800" dirty="0"/>
          </a:p>
        </p:txBody>
      </p:sp>
      <p:sp>
        <p:nvSpPr>
          <p:cNvPr id="33" name="Text 31"/>
          <p:cNvSpPr txBox="1"/>
          <p:nvPr/>
        </p:nvSpPr>
        <p:spPr>
          <a:xfrm>
            <a:off x="4892040" y="5074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Plate preheat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892040" y="5440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°C</a:t>
            </a:r>
            <a:endParaRPr lang="en-US" sz="1300" dirty="0"/>
          </a:p>
        </p:txBody>
      </p:sp>
      <p:sp>
        <p:nvSpPr>
          <p:cNvPr id="35" name="VED panel"/>
          <p:cNvSpPr/>
          <p:nvPr/>
        </p:nvSpPr>
        <p:spPr>
          <a:xfrm>
            <a:off x="7589520" y="1325880"/>
            <a:ext cx="4050792" cy="4572000"/>
          </a:xfrm>
          <a:prstGeom prst="roundRect">
            <a:avLst>
              <a:gd name="adj" fmla="val 1806"/>
            </a:avLst>
          </a:prstGeom>
          <a:solidFill>
            <a:schemeClr val="tx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86384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Derived metric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0" y="1874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Volumetric energy density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7863840" y="2514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P / (v · h · t)</a:t>
            </a:r>
            <a:endParaRPr lang="en-US" sz="3000" dirty="0"/>
          </a:p>
        </p:txBody>
      </p:sp>
      <p:sp>
        <p:nvSpPr>
          <p:cNvPr id="39" name="Text 37"/>
          <p:cNvSpPr txBox="1"/>
          <p:nvPr/>
        </p:nvSpPr>
        <p:spPr>
          <a:xfrm>
            <a:off x="7863840" y="3246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J/mm³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863840" y="37947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Lets us compare print conditions across alloys on one axis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Checked against Micro-CT density in M4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Missing inputs flagged rather than assumed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architecture: correcting loose-powder XRF towards ICP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INPUTS</a:t>
            </a:r>
            <a:endParaRPr lang="en-US" sz="1100" dirty="0"/>
          </a:p>
        </p:txBody>
      </p:sp>
      <p:sp>
        <p:nvSpPr>
          <p:cNvPr id="4" name="Input 1"/>
          <p:cNvSpPr/>
          <p:nvPr/>
        </p:nvSpPr>
        <p:spPr>
          <a:xfrm>
            <a:off x="548640" y="1645920"/>
            <a:ext cx="2468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55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Loose-powder XRF spectrum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214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Energy channels, repeat packings</a:t>
            </a:r>
            <a:endParaRPr lang="en-US" sz="1200" dirty="0"/>
          </a:p>
        </p:txBody>
      </p:sp>
      <p:sp>
        <p:nvSpPr>
          <p:cNvPr id="7" name="Arrow input 1"/>
          <p:cNvSpPr/>
          <p:nvPr/>
        </p:nvSpPr>
        <p:spPr>
          <a:xfrm>
            <a:off x="3090672" y="1984248"/>
            <a:ext cx="219456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8" name="Input 2"/>
          <p:cNvSpPr/>
          <p:nvPr/>
        </p:nvSpPr>
        <p:spPr>
          <a:xfrm>
            <a:off x="548640" y="2743200"/>
            <a:ext cx="2468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852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Powder morphology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186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PSD (D10/D50/D90), shape, tap density</a:t>
            </a:r>
            <a:endParaRPr lang="en-US" sz="1200" dirty="0"/>
          </a:p>
        </p:txBody>
      </p:sp>
      <p:sp>
        <p:nvSpPr>
          <p:cNvPr id="11" name="Arrow input 2"/>
          <p:cNvSpPr/>
          <p:nvPr/>
        </p:nvSpPr>
        <p:spPr>
          <a:xfrm>
            <a:off x="3090672" y="3081528"/>
            <a:ext cx="219456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2" name="Input 3"/>
          <p:cNvSpPr/>
          <p:nvPr/>
        </p:nvSpPr>
        <p:spPr>
          <a:xfrm>
            <a:off x="548640" y="3840480"/>
            <a:ext cx="2468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9502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Omnian FP estimate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31596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Baseline wt% per element</a:t>
            </a:r>
            <a:endParaRPr lang="en-US" sz="1200" dirty="0"/>
          </a:p>
        </p:txBody>
      </p:sp>
      <p:sp>
        <p:nvSpPr>
          <p:cNvPr id="15" name="Arrow input 3"/>
          <p:cNvSpPr/>
          <p:nvPr/>
        </p:nvSpPr>
        <p:spPr>
          <a:xfrm>
            <a:off x="3090672" y="4178808"/>
            <a:ext cx="219456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8328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ENCODERS</a:t>
            </a:r>
            <a:endParaRPr lang="en-US" sz="1100" dirty="0"/>
          </a:p>
        </p:txBody>
      </p:sp>
      <p:sp>
        <p:nvSpPr>
          <p:cNvPr id="17" name="Encoder 1"/>
          <p:cNvSpPr/>
          <p:nvPr/>
        </p:nvSpPr>
        <p:spPr>
          <a:xfrm>
            <a:off x="3383280" y="1645920"/>
            <a:ext cx="210312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20440" y="17556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1D CNN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21214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Peak + background features</a:t>
            </a:r>
            <a:endParaRPr lang="en-US" sz="1200" dirty="0"/>
          </a:p>
        </p:txBody>
      </p:sp>
      <p:sp>
        <p:nvSpPr>
          <p:cNvPr id="20" name="Encoder 2"/>
          <p:cNvSpPr/>
          <p:nvPr/>
        </p:nvSpPr>
        <p:spPr>
          <a:xfrm>
            <a:off x="3383280" y="2743200"/>
            <a:ext cx="210312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20440" y="28529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MLP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32186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Morphology embedding</a:t>
            </a:r>
            <a:endParaRPr lang="en-US" sz="1200" dirty="0"/>
          </a:p>
        </p:txBody>
      </p:sp>
      <p:sp>
        <p:nvSpPr>
          <p:cNvPr id="23" name="Encoder 3"/>
          <p:cNvSpPr/>
          <p:nvPr/>
        </p:nvSpPr>
        <p:spPr>
          <a:xfrm>
            <a:off x="3383280" y="3840480"/>
            <a:ext cx="210312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520440" y="39502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Pass-through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520440" y="43159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Physics prior</a:t>
            </a:r>
            <a:endParaRPr lang="en-US" sz="1200" dirty="0"/>
          </a:p>
        </p:txBody>
      </p:sp>
      <p:sp>
        <p:nvSpPr>
          <p:cNvPr id="26" name="Arrow to fusion"/>
          <p:cNvSpPr/>
          <p:nvPr/>
        </p:nvSpPr>
        <p:spPr>
          <a:xfrm>
            <a:off x="5559552" y="3081528"/>
            <a:ext cx="219456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85216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FUSION</a:t>
            </a:r>
            <a:endParaRPr lang="en-US" sz="1100" dirty="0"/>
          </a:p>
        </p:txBody>
      </p:sp>
      <p:sp>
        <p:nvSpPr>
          <p:cNvPr id="28" name="Fusion"/>
          <p:cNvSpPr/>
          <p:nvPr/>
        </p:nvSpPr>
        <p:spPr>
          <a:xfrm>
            <a:off x="5852160" y="1645920"/>
            <a:ext cx="1828800" cy="315468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29" name="Fusion circle"/>
          <p:cNvSpPr/>
          <p:nvPr/>
        </p:nvSpPr>
        <p:spPr>
          <a:xfrm>
            <a:off x="644652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usion icon" descr="Fu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6540" y="2080260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598932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Feature fusion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989320" y="3154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Concatenate + attention across inputs</a:t>
            </a:r>
            <a:endParaRPr lang="en-US" sz="1200" dirty="0"/>
          </a:p>
        </p:txBody>
      </p:sp>
      <p:sp>
        <p:nvSpPr>
          <p:cNvPr id="33" name="Arrow to head"/>
          <p:cNvSpPr/>
          <p:nvPr/>
        </p:nvSpPr>
        <p:spPr>
          <a:xfrm>
            <a:off x="7754112" y="3081528"/>
            <a:ext cx="219456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04672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HEAD</a:t>
            </a:r>
            <a:endParaRPr lang="en-US" sz="1100" dirty="0"/>
          </a:p>
        </p:txBody>
      </p:sp>
      <p:sp>
        <p:nvSpPr>
          <p:cNvPr id="35" name="Head"/>
          <p:cNvSpPr/>
          <p:nvPr/>
        </p:nvSpPr>
        <p:spPr>
          <a:xfrm>
            <a:off x="8046720" y="1645920"/>
            <a:ext cx="1828800" cy="315468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183880" y="1965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Residual correction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8183880" y="274320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Δ wt% per element added to the FP estimate, with an uncertainty band</a:t>
            </a:r>
            <a:endParaRPr lang="en-US" sz="1200" dirty="0"/>
          </a:p>
        </p:txBody>
      </p:sp>
      <p:sp>
        <p:nvSpPr>
          <p:cNvPr id="38" name="Arrow to output"/>
          <p:cNvSpPr/>
          <p:nvPr/>
        </p:nvSpPr>
        <p:spPr>
          <a:xfrm>
            <a:off x="9948672" y="3081528"/>
            <a:ext cx="219456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0241280" y="128016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OUTPUT</a:t>
            </a:r>
            <a:endParaRPr lang="en-US" sz="1100" dirty="0"/>
          </a:p>
        </p:txBody>
      </p:sp>
      <p:sp>
        <p:nvSpPr>
          <p:cNvPr id="40" name="Output"/>
          <p:cNvSpPr/>
          <p:nvPr/>
        </p:nvSpPr>
        <p:spPr>
          <a:xfrm>
            <a:off x="10241280" y="1645920"/>
            <a:ext cx="1399032" cy="3154680"/>
          </a:xfrm>
          <a:prstGeom prst="roundRect">
            <a:avLst>
              <a:gd name="adj" fmla="val 5229"/>
            </a:avLst>
          </a:prstGeom>
          <a:solidFill>
            <a:schemeClr val="bg2"/>
          </a:solidFill>
          <a:ln/>
        </p:spPr>
      </p:sp>
      <p:sp>
        <p:nvSpPr>
          <p:cNvPr id="41" name="Output circle"/>
          <p:cNvSpPr/>
          <p:nvPr/>
        </p:nvSpPr>
        <p:spPr>
          <a:xfrm>
            <a:off x="10616184" y="19202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2" name="Output icon" descr="Outpu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204" y="2080260"/>
            <a:ext cx="320040" cy="320040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10314432" y="2743200"/>
            <a:ext cx="125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Corrected composition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10314432" y="3429000"/>
            <a:ext cx="1252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Target: ICP-level accuracy and precision</a:t>
            </a:r>
            <a:endParaRPr lang="en-US" sz="1200" dirty="0"/>
          </a:p>
        </p:txBody>
      </p:sp>
      <p:sp>
        <p:nvSpPr>
          <p:cNvPr id="45" name="Supervision band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46" name="Supervision circle"/>
          <p:cNvSpPr/>
          <p:nvPr/>
        </p:nvSpPr>
        <p:spPr>
          <a:xfrm>
            <a:off x="731520" y="5285232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7" name="Supervision icon" descr="Supervis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5445252"/>
            <a:ext cx="320040" cy="320040"/>
          </a:xfrm>
          <a:prstGeom prst="rect">
            <a:avLst/>
          </a:prstGeom>
        </p:spPr>
      </p:pic>
      <p:sp>
        <p:nvSpPr>
          <p:cNvPr id="48" name="Text 43"/>
          <p:cNvSpPr txBox="1"/>
          <p:nvPr/>
        </p:nvSpPr>
        <p:spPr>
          <a:xfrm>
            <a:off x="1554480" y="5212080"/>
            <a:ext cx="9921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Supervision: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ICP of powder and printed disc is the ground truth. LPBF discs, checked in M4 (EDS, Micro-CT, XRD), give homogeneous solid reference spectra.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M4 and LPBF parameters plug into training</a:t>
            </a:r>
            <a:endParaRPr lang="en-US" sz="3000" dirty="0"/>
          </a:p>
        </p:txBody>
      </p:sp>
      <p:sp>
        <p:nvSpPr>
          <p:cNvPr id="3" name="Column Ground truth"/>
          <p:cNvSpPr/>
          <p:nvPr/>
        </p:nvSpPr>
        <p:spPr>
          <a:xfrm>
            <a:off x="548640" y="1325880"/>
            <a:ext cx="3538728" cy="4754880"/>
          </a:xfrm>
          <a:prstGeom prst="roundRect">
            <a:avLst>
              <a:gd name="adj" fmla="val 2067"/>
            </a:avLst>
          </a:prstGeom>
          <a:solidFill>
            <a:schemeClr val="bg2"/>
          </a:solidFill>
          <a:ln/>
        </p:spPr>
      </p:sp>
      <p:sp>
        <p:nvSpPr>
          <p:cNvPr id="4" name="Ground truth circle"/>
          <p:cNvSpPr/>
          <p:nvPr/>
        </p:nvSpPr>
        <p:spPr>
          <a:xfrm>
            <a:off x="82296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Ground truth icon" descr="Ground tru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7259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Ground truth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1752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ICP on powder and on printed disc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M4 EDS / XRD confirm disc chemistry matches powder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LPBF parameters flag volatile-element loss (e.g. Mg, Zn)</a:t>
            </a:r>
            <a:endParaRPr lang="en-US" sz="1500" dirty="0"/>
          </a:p>
        </p:txBody>
      </p:sp>
      <p:sp>
        <p:nvSpPr>
          <p:cNvPr id="8" name="Column Training data"/>
          <p:cNvSpPr/>
          <p:nvPr/>
        </p:nvSpPr>
        <p:spPr>
          <a:xfrm>
            <a:off x="4325112" y="1325880"/>
            <a:ext cx="3538728" cy="4754880"/>
          </a:xfrm>
          <a:prstGeom prst="roundRect">
            <a:avLst>
              <a:gd name="adj" fmla="val 2067"/>
            </a:avLst>
          </a:prstGeom>
          <a:solidFill>
            <a:schemeClr val="bg2"/>
          </a:solidFill>
          <a:ln/>
        </p:spPr>
      </p:sp>
      <p:sp>
        <p:nvSpPr>
          <p:cNvPr id="9" name="Training data circle"/>
          <p:cNvSpPr/>
          <p:nvPr/>
        </p:nvSpPr>
        <p:spPr>
          <a:xfrm>
            <a:off x="4599432" y="15544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Training data icon" descr="Training da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882" y="172593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99432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Training data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99432" y="301752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2–3 loading protocols per alloy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~100 XRF repeats per protocol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Sieved sub-fractions to vary particle size</a:t>
            </a:r>
            <a:endParaRPr lang="en-US" sz="1500" dirty="0"/>
          </a:p>
        </p:txBody>
      </p:sp>
      <p:sp>
        <p:nvSpPr>
          <p:cNvPr id="13" name="Column Validation"/>
          <p:cNvSpPr/>
          <p:nvPr/>
        </p:nvSpPr>
        <p:spPr>
          <a:xfrm>
            <a:off x="8101584" y="1325880"/>
            <a:ext cx="3538728" cy="4754880"/>
          </a:xfrm>
          <a:prstGeom prst="roundRect">
            <a:avLst>
              <a:gd name="adj" fmla="val 2067"/>
            </a:avLst>
          </a:prstGeom>
          <a:solidFill>
            <a:schemeClr val="bg2"/>
          </a:solidFill>
          <a:ln/>
        </p:spPr>
      </p:sp>
      <p:sp>
        <p:nvSpPr>
          <p:cNvPr id="14" name="Validation circle"/>
          <p:cNvSpPr/>
          <p:nvPr/>
        </p:nvSpPr>
        <p:spPr>
          <a:xfrm>
            <a:off x="8375904" y="15544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Validation icon" descr="Valid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354" y="172593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75904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Validation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75904" y="301752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Hold out whole batches, not single scans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 on unseen batches and powder CRMs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Per-element error and repeatability vs ICP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Extract circle"/>
          <p:cNvSpPr/>
          <p:nvPr/>
        </p:nvSpPr>
        <p:spPr>
          <a:xfrm>
            <a:off x="73152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Extract icon" descr="Extra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1259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1. Extract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4747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Pull M4 + LPBF fields from all 17 workbooks into one master table</a:t>
            </a:r>
            <a:endParaRPr lang="en-US" sz="1500" dirty="0"/>
          </a:p>
        </p:txBody>
      </p:sp>
      <p:sp>
        <p:nvSpPr>
          <p:cNvPr id="7" name="Validate circle"/>
          <p:cNvSpPr/>
          <p:nvPr/>
        </p:nvSpPr>
        <p:spPr>
          <a:xfrm>
            <a:off x="347472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Validate icon" descr="Valid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1259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4720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2. Validate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3474720" y="34747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Normalise units, compute VED, flag gaps and inconsistencies</a:t>
            </a:r>
            <a:endParaRPr lang="en-US" sz="1500" dirty="0"/>
          </a:p>
        </p:txBody>
      </p:sp>
      <p:sp>
        <p:nvSpPr>
          <p:cNvPr id="11" name="Link to M5 / M6 circle"/>
          <p:cNvSpPr/>
          <p:nvPr/>
        </p:nvSpPr>
        <p:spPr>
          <a:xfrm>
            <a:off x="621792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Link to M5 / M6 icon" descr="Link to M5 / M6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21259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17920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3. Link to M5 / M6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217920" y="34747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Join disc data with ICP and XRF results per material</a:t>
            </a:r>
            <a:endParaRPr lang="en-US" sz="1500" dirty="0"/>
          </a:p>
        </p:txBody>
      </p:sp>
      <p:sp>
        <p:nvSpPr>
          <p:cNvPr id="15" name="Feed WP3 circle"/>
          <p:cNvSpPr/>
          <p:nvPr/>
        </p:nvSpPr>
        <p:spPr>
          <a:xfrm>
            <a:off x="896112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Feed WP3 icon" descr="Feed WP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212598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4. Feed WP3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8961120" y="34747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Hand a clean, versioned dataset to Malvern's ML team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Discussion: confirm the 17 material names, the expected M4 fields, and the data owner for any gaps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BF M4">
  <a:themeElements>
    <a:clrScheme name="LPBF M4">
      <a:dk1>
        <a:srgbClr val="1F2328"/>
      </a:dk1>
      <a:lt1>
        <a:srgbClr val="FFFFFF"/>
      </a:lt1>
      <a:dk2>
        <a:srgbClr val="3A424D"/>
      </a:dk2>
      <a:lt2>
        <a:srgbClr val="F3F4F6"/>
      </a:lt2>
      <a:accent1>
        <a:srgbClr val="E8601C"/>
      </a:accent1>
      <a:accent2>
        <a:srgbClr val="4C6A88"/>
      </a:accent2>
      <a:accent3>
        <a:srgbClr val="2E8B57"/>
      </a:accent3>
      <a:accent4>
        <a:srgbClr val="D9A21B"/>
      </a:accent4>
      <a:accent5>
        <a:srgbClr val="C0392B"/>
      </a:accent5>
      <a:accent6>
        <a:srgbClr val="6B7380"/>
      </a:accent6>
      <a:hlink>
        <a:srgbClr val="4C6A88"/>
      </a:hlink>
      <a:folHlink>
        <a:srgbClr val="6B7380"/>
      </a:folHlink>
    </a:clrScheme>
    <a:fontScheme name="LPBF M4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&amp; LPBF Parameters</dc:title>
  <dc:subject>PptxGenJS Presentation</dc:subject>
  <dc:creator>Aryan Dutt</dc:creator>
  <cp:lastModifiedBy>Aryan Dutt</cp:lastModifiedBy>
  <cp:revision>1</cp:revision>
  <dcterms:created xsi:type="dcterms:W3CDTF">2026-10-14T15:46:46Z</dcterms:created>
  <dcterms:modified xsi:type="dcterms:W3CDTF">2026-10-14T15:46:46Z</dcterms:modified>
</cp:coreProperties>
</file>